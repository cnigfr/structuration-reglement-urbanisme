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8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25" d="100"/>
          <a:sy n="125" d="100"/>
        </p:scale>
        <p:origin x="3012" y="-8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rore Alarcon" userId="dc99238b-768c-484d-a507-3d87ab3afbd3" providerId="ADAL" clId="{382BBFE9-1F10-4298-8DD6-8DCF612F831A}"/>
    <pc:docChg chg="undo custSel modSld">
      <pc:chgData name="Aurore Alarcon" userId="dc99238b-768c-484d-a507-3d87ab3afbd3" providerId="ADAL" clId="{382BBFE9-1F10-4298-8DD6-8DCF612F831A}" dt="2026-02-18T08:14:58.428" v="173" actId="20577"/>
      <pc:docMkLst>
        <pc:docMk/>
      </pc:docMkLst>
      <pc:sldChg chg="modNotes">
        <pc:chgData name="Aurore Alarcon" userId="dc99238b-768c-484d-a507-3d87ab3afbd3" providerId="ADAL" clId="{382BBFE9-1F10-4298-8DD6-8DCF612F831A}" dt="2026-02-18T08:14:58.428" v="173" actId="20577"/>
        <pc:sldMkLst>
          <pc:docMk/>
          <pc:sldMk cId="332794745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351092-2809-44B2-A8A0-80F7D7D70ADF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6E63B-4A73-46DA-AA42-1ECFAFCABF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6843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83E3BBA-64A1-4B14-AAB3-1F1099B73A8E}"/>
              </a:ext>
            </a:extLst>
          </p:cNvPr>
          <p:cNvSpPr/>
          <p:nvPr/>
        </p:nvSpPr>
        <p:spPr>
          <a:xfrm>
            <a:off x="100362" y="892097"/>
            <a:ext cx="1483112" cy="602167"/>
          </a:xfrm>
          <a:prstGeom prst="rect">
            <a:avLst/>
          </a:prstGeom>
          <a:solidFill>
            <a:srgbClr val="FCF8AA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Standard CNIG PLU :</a:t>
            </a:r>
          </a:p>
          <a:p>
            <a:pPr algn="ctr"/>
            <a:r>
              <a:rPr lang="fr-FR" sz="1200" b="1" dirty="0">
                <a:solidFill>
                  <a:schemeClr val="tx1"/>
                </a:solidFill>
              </a:rPr>
              <a:t>DOC_URBA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322CF8-0611-4BF5-8FF7-CD6CF3631A4D}"/>
              </a:ext>
            </a:extLst>
          </p:cNvPr>
          <p:cNvSpPr/>
          <p:nvPr/>
        </p:nvSpPr>
        <p:spPr>
          <a:xfrm>
            <a:off x="105265" y="2717640"/>
            <a:ext cx="1483112" cy="602167"/>
          </a:xfrm>
          <a:prstGeom prst="rect">
            <a:avLst/>
          </a:prstGeom>
          <a:solidFill>
            <a:srgbClr val="FCF8AA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Standard CNIG PLU :</a:t>
            </a:r>
          </a:p>
          <a:p>
            <a:pPr algn="ctr"/>
            <a:r>
              <a:rPr lang="fr-FR" sz="1200" b="1" dirty="0">
                <a:solidFill>
                  <a:schemeClr val="tx1"/>
                </a:solidFill>
              </a:rPr>
              <a:t>DOC_URBA_COM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00A83A-878A-4781-936A-E45918133757}"/>
              </a:ext>
            </a:extLst>
          </p:cNvPr>
          <p:cNvSpPr/>
          <p:nvPr/>
        </p:nvSpPr>
        <p:spPr>
          <a:xfrm>
            <a:off x="132354" y="4374297"/>
            <a:ext cx="1483112" cy="602167"/>
          </a:xfrm>
          <a:prstGeom prst="rect">
            <a:avLst/>
          </a:prstGeom>
          <a:solidFill>
            <a:srgbClr val="FCF8AA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Standard CNIG PLU :</a:t>
            </a:r>
          </a:p>
          <a:p>
            <a:pPr algn="ctr"/>
            <a:r>
              <a:rPr lang="fr-FR" sz="1200" b="1" dirty="0">
                <a:solidFill>
                  <a:schemeClr val="tx1"/>
                </a:solidFill>
              </a:rPr>
              <a:t>ZONE_URBA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8B8E2A-05A8-4551-A6A6-AFA59B8A7E01}"/>
              </a:ext>
            </a:extLst>
          </p:cNvPr>
          <p:cNvSpPr/>
          <p:nvPr/>
        </p:nvSpPr>
        <p:spPr>
          <a:xfrm>
            <a:off x="171529" y="5662160"/>
            <a:ext cx="1483112" cy="602167"/>
          </a:xfrm>
          <a:prstGeom prst="rect">
            <a:avLst/>
          </a:prstGeom>
          <a:solidFill>
            <a:srgbClr val="FCF8AA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Standard CNIG PLU :</a:t>
            </a:r>
          </a:p>
          <a:p>
            <a:pPr algn="ctr"/>
            <a:r>
              <a:rPr lang="fr-FR" sz="1200" b="1" dirty="0">
                <a:solidFill>
                  <a:schemeClr val="tx1"/>
                </a:solidFill>
              </a:rPr>
              <a:t>PRESCRIPTION</a:t>
            </a:r>
          </a:p>
        </p:txBody>
      </p:sp>
      <p:sp>
        <p:nvSpPr>
          <p:cNvPr id="10" name="Organigramme : Procédé 9">
            <a:extLst>
              <a:ext uri="{FF2B5EF4-FFF2-40B4-BE49-F238E27FC236}">
                <a16:creationId xmlns:a16="http://schemas.microsoft.com/office/drawing/2014/main" id="{A6CB03A0-FFB9-464C-B0E3-6B4120EDE641}"/>
              </a:ext>
            </a:extLst>
          </p:cNvPr>
          <p:cNvSpPr/>
          <p:nvPr/>
        </p:nvSpPr>
        <p:spPr>
          <a:xfrm>
            <a:off x="2209390" y="535333"/>
            <a:ext cx="1673868" cy="1734461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543E364B-7D78-4D68-A849-7EEC1FFC8BDA}"/>
              </a:ext>
            </a:extLst>
          </p:cNvPr>
          <p:cNvCxnSpPr>
            <a:cxnSpLocks/>
          </p:cNvCxnSpPr>
          <p:nvPr/>
        </p:nvCxnSpPr>
        <p:spPr>
          <a:xfrm>
            <a:off x="2225386" y="765223"/>
            <a:ext cx="1657872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E0EB043D-2B39-4B04-BB3B-1F35A0A6AEE2}"/>
              </a:ext>
            </a:extLst>
          </p:cNvPr>
          <p:cNvSpPr txBox="1"/>
          <p:nvPr/>
        </p:nvSpPr>
        <p:spPr>
          <a:xfrm>
            <a:off x="2470994" y="499591"/>
            <a:ext cx="1819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 err="1"/>
              <a:t>ReglementDU</a:t>
            </a:r>
            <a:endParaRPr lang="fr-FR" sz="1200" b="1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B7BA6A1-02A4-4025-B196-C811729D9C1F}"/>
              </a:ext>
            </a:extLst>
          </p:cNvPr>
          <p:cNvSpPr txBox="1"/>
          <p:nvPr/>
        </p:nvSpPr>
        <p:spPr>
          <a:xfrm>
            <a:off x="2165449" y="720449"/>
            <a:ext cx="17700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+</a:t>
            </a:r>
            <a:r>
              <a:rPr lang="fr-FR" sz="1200" dirty="0" err="1"/>
              <a:t>idReglement</a:t>
            </a:r>
            <a:r>
              <a:rPr lang="fr-FR" sz="1200" dirty="0"/>
              <a:t> : URI</a:t>
            </a:r>
          </a:p>
          <a:p>
            <a:r>
              <a:rPr lang="fr-FR" sz="1200" dirty="0"/>
              <a:t>+nom : varchar</a:t>
            </a:r>
          </a:p>
          <a:p>
            <a:r>
              <a:rPr lang="fr-FR" sz="1200" dirty="0"/>
              <a:t>+</a:t>
            </a:r>
            <a:r>
              <a:rPr lang="fr-FR" sz="1200" dirty="0" err="1"/>
              <a:t>typeDoc</a:t>
            </a:r>
            <a:r>
              <a:rPr lang="fr-FR" sz="1200" dirty="0"/>
              <a:t> : varchar</a:t>
            </a:r>
          </a:p>
          <a:p>
            <a:r>
              <a:rPr lang="fr-FR" sz="1200" dirty="0"/>
              <a:t>+lien : URL</a:t>
            </a:r>
          </a:p>
          <a:p>
            <a:r>
              <a:rPr lang="fr-FR" sz="1200" dirty="0"/>
              <a:t>+</a:t>
            </a:r>
            <a:r>
              <a:rPr lang="fr-FR" sz="1200" dirty="0" err="1"/>
              <a:t>idUrba</a:t>
            </a:r>
            <a:r>
              <a:rPr lang="fr-FR" sz="1200" dirty="0"/>
              <a:t> : varchar</a:t>
            </a:r>
          </a:p>
          <a:p>
            <a:r>
              <a:rPr lang="fr-FR" sz="1200" dirty="0"/>
              <a:t>+</a:t>
            </a:r>
            <a:r>
              <a:rPr lang="fr-FR" sz="1200" dirty="0" err="1"/>
              <a:t>inseeCommune</a:t>
            </a:r>
            <a:r>
              <a:rPr lang="fr-FR" sz="1200" dirty="0"/>
              <a:t> : </a:t>
            </a:r>
            <a:r>
              <a:rPr lang="fr-FR" sz="1200" dirty="0" err="1"/>
              <a:t>array</a:t>
            </a:r>
            <a:endParaRPr lang="fr-FR" sz="1200" dirty="0"/>
          </a:p>
          <a:p>
            <a:r>
              <a:rPr lang="fr-FR" sz="1200" dirty="0"/>
              <a:t>+</a:t>
            </a:r>
            <a:r>
              <a:rPr lang="fr-FR" sz="1200" dirty="0" err="1"/>
              <a:t>sirenEpci</a:t>
            </a:r>
            <a:r>
              <a:rPr lang="fr-FR" sz="1200" dirty="0"/>
              <a:t> : varchar</a:t>
            </a:r>
          </a:p>
          <a:p>
            <a:r>
              <a:rPr lang="fr-FR" sz="1200" dirty="0"/>
              <a:t>+titre : </a:t>
            </a:r>
            <a:r>
              <a:rPr lang="fr-FR" sz="1200" dirty="0" err="1"/>
              <a:t>array</a:t>
            </a:r>
            <a:endParaRPr lang="fr-FR" sz="1200" dirty="0"/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B2EEF5AA-2EF0-48C2-A3E0-D60EFAF90856}"/>
              </a:ext>
            </a:extLst>
          </p:cNvPr>
          <p:cNvCxnSpPr>
            <a:cxnSpLocks/>
          </p:cNvCxnSpPr>
          <p:nvPr/>
        </p:nvCxnSpPr>
        <p:spPr>
          <a:xfrm flipH="1">
            <a:off x="1583474" y="1184429"/>
            <a:ext cx="61680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C1FF04F2-D484-4381-8214-010BC171EEEC}"/>
              </a:ext>
            </a:extLst>
          </p:cNvPr>
          <p:cNvSpPr txBox="1"/>
          <p:nvPr/>
        </p:nvSpPr>
        <p:spPr>
          <a:xfrm>
            <a:off x="1583474" y="922874"/>
            <a:ext cx="7905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référence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D0A7D052-3ABB-4109-B155-2194465EFE88}"/>
              </a:ext>
            </a:extLst>
          </p:cNvPr>
          <p:cNvCxnSpPr>
            <a:cxnSpLocks/>
          </p:cNvCxnSpPr>
          <p:nvPr/>
        </p:nvCxnSpPr>
        <p:spPr>
          <a:xfrm flipH="1">
            <a:off x="1583474" y="1330943"/>
            <a:ext cx="61680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A4B8C300-E22A-403E-958A-77A2DEF805FB}"/>
              </a:ext>
            </a:extLst>
          </p:cNvPr>
          <p:cNvSpPr txBox="1"/>
          <p:nvPr/>
        </p:nvSpPr>
        <p:spPr>
          <a:xfrm>
            <a:off x="1583474" y="1353761"/>
            <a:ext cx="7905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est de type</a:t>
            </a:r>
          </a:p>
        </p:txBody>
      </p:sp>
      <p:sp>
        <p:nvSpPr>
          <p:cNvPr id="26" name="Organigramme : Décision 25">
            <a:extLst>
              <a:ext uri="{FF2B5EF4-FFF2-40B4-BE49-F238E27FC236}">
                <a16:creationId xmlns:a16="http://schemas.microsoft.com/office/drawing/2014/main" id="{1664A782-762D-47A6-B549-C6D7663DA6D3}"/>
              </a:ext>
            </a:extLst>
          </p:cNvPr>
          <p:cNvSpPr/>
          <p:nvPr/>
        </p:nvSpPr>
        <p:spPr>
          <a:xfrm>
            <a:off x="3013393" y="2293209"/>
            <a:ext cx="140970" cy="226942"/>
          </a:xfrm>
          <a:prstGeom prst="flowChartDecisi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DB2941B9-E2EF-4EE2-9FEB-D15CED42ECCB}"/>
              </a:ext>
            </a:extLst>
          </p:cNvPr>
          <p:cNvCxnSpPr>
            <a:cxnSpLocks/>
            <a:stCxn id="26" idx="2"/>
            <a:endCxn id="30" idx="0"/>
          </p:cNvCxnSpPr>
          <p:nvPr/>
        </p:nvCxnSpPr>
        <p:spPr>
          <a:xfrm>
            <a:off x="3083878" y="2520151"/>
            <a:ext cx="0" cy="1509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rganigramme : Procédé 29">
            <a:extLst>
              <a:ext uri="{FF2B5EF4-FFF2-40B4-BE49-F238E27FC236}">
                <a16:creationId xmlns:a16="http://schemas.microsoft.com/office/drawing/2014/main" id="{DCCBA7A1-74E2-4B07-85E8-85C90EBE43F6}"/>
              </a:ext>
            </a:extLst>
          </p:cNvPr>
          <p:cNvSpPr/>
          <p:nvPr/>
        </p:nvSpPr>
        <p:spPr>
          <a:xfrm>
            <a:off x="2232267" y="2671060"/>
            <a:ext cx="1703222" cy="1892275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FB136CD7-4DBC-4A4C-8B9F-A895084DFE5A}"/>
              </a:ext>
            </a:extLst>
          </p:cNvPr>
          <p:cNvCxnSpPr>
            <a:cxnSpLocks/>
          </p:cNvCxnSpPr>
          <p:nvPr/>
        </p:nvCxnSpPr>
        <p:spPr>
          <a:xfrm>
            <a:off x="2232267" y="2881645"/>
            <a:ext cx="1703222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E6196669-C6A4-4B15-8EA6-84D4FB4AD8E8}"/>
              </a:ext>
            </a:extLst>
          </p:cNvPr>
          <p:cNvSpPr txBox="1"/>
          <p:nvPr/>
        </p:nvSpPr>
        <p:spPr>
          <a:xfrm>
            <a:off x="2791054" y="2670869"/>
            <a:ext cx="5105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Titre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02594AF1-D055-4AAF-9F31-6B038BBA8AB7}"/>
              </a:ext>
            </a:extLst>
          </p:cNvPr>
          <p:cNvSpPr txBox="1"/>
          <p:nvPr/>
        </p:nvSpPr>
        <p:spPr>
          <a:xfrm>
            <a:off x="2232266" y="2881645"/>
            <a:ext cx="19447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+</a:t>
            </a:r>
            <a:r>
              <a:rPr lang="fr-FR" sz="1200" dirty="0" err="1"/>
              <a:t>idTitre</a:t>
            </a:r>
            <a:r>
              <a:rPr lang="fr-FR" sz="1200" dirty="0"/>
              <a:t> : URI</a:t>
            </a:r>
          </a:p>
          <a:p>
            <a:r>
              <a:rPr lang="fr-FR" sz="1200" dirty="0"/>
              <a:t>+intitule : varchar</a:t>
            </a:r>
          </a:p>
          <a:p>
            <a:r>
              <a:rPr lang="fr-FR" sz="1200" dirty="0"/>
              <a:t>+niveau : </a:t>
            </a:r>
            <a:r>
              <a:rPr lang="fr-FR" sz="1200" dirty="0" err="1"/>
              <a:t>integer</a:t>
            </a:r>
            <a:endParaRPr lang="fr-FR" sz="1200" dirty="0"/>
          </a:p>
          <a:p>
            <a:r>
              <a:rPr lang="fr-FR" sz="1200" dirty="0"/>
              <a:t>+</a:t>
            </a:r>
            <a:r>
              <a:rPr lang="fr-FR" sz="1200" dirty="0" err="1"/>
              <a:t>numero</a:t>
            </a:r>
            <a:r>
              <a:rPr lang="fr-FR" sz="1200" dirty="0"/>
              <a:t> : varchar</a:t>
            </a:r>
          </a:p>
          <a:p>
            <a:r>
              <a:rPr lang="fr-FR" sz="1200" dirty="0"/>
              <a:t>+</a:t>
            </a:r>
            <a:r>
              <a:rPr lang="fr-FR" sz="1200" dirty="0" err="1"/>
              <a:t>idZone</a:t>
            </a:r>
            <a:r>
              <a:rPr lang="fr-FR" sz="1200" dirty="0"/>
              <a:t> : </a:t>
            </a:r>
            <a:r>
              <a:rPr lang="fr-FR" sz="1200" dirty="0" err="1"/>
              <a:t>array</a:t>
            </a:r>
            <a:endParaRPr lang="fr-FR" sz="1200" dirty="0"/>
          </a:p>
          <a:p>
            <a:r>
              <a:rPr lang="fr-FR" sz="1200" dirty="0"/>
              <a:t>+</a:t>
            </a:r>
            <a:r>
              <a:rPr lang="fr-FR" sz="1200" dirty="0" err="1"/>
              <a:t>idPrescirption</a:t>
            </a:r>
            <a:r>
              <a:rPr lang="fr-FR" sz="1200" dirty="0"/>
              <a:t> : </a:t>
            </a:r>
            <a:r>
              <a:rPr lang="fr-FR" sz="1200" dirty="0" err="1"/>
              <a:t>array</a:t>
            </a:r>
            <a:endParaRPr lang="fr-FR" sz="1200" dirty="0"/>
          </a:p>
          <a:p>
            <a:r>
              <a:rPr lang="fr-FR" sz="1200" dirty="0"/>
              <a:t>+</a:t>
            </a:r>
            <a:r>
              <a:rPr lang="fr-FR" sz="1200" dirty="0" err="1"/>
              <a:t>inseeCommune</a:t>
            </a:r>
            <a:r>
              <a:rPr lang="fr-FR" sz="1200" dirty="0"/>
              <a:t> : </a:t>
            </a:r>
            <a:r>
              <a:rPr lang="fr-FR" sz="1200" dirty="0" err="1"/>
              <a:t>array</a:t>
            </a:r>
            <a:endParaRPr lang="fr-FR" sz="1200" dirty="0"/>
          </a:p>
          <a:p>
            <a:r>
              <a:rPr lang="fr-FR" sz="1200" dirty="0"/>
              <a:t>+titre : </a:t>
            </a:r>
            <a:r>
              <a:rPr lang="fr-FR" sz="1200" dirty="0" err="1"/>
              <a:t>array</a:t>
            </a:r>
            <a:endParaRPr lang="fr-FR" sz="1200" dirty="0"/>
          </a:p>
          <a:p>
            <a:r>
              <a:rPr lang="fr-FR" sz="1200" dirty="0"/>
              <a:t>+contenu : </a:t>
            </a:r>
            <a:r>
              <a:rPr lang="fr-FR" sz="1200" dirty="0" err="1"/>
              <a:t>array</a:t>
            </a:r>
            <a:endParaRPr lang="fr-FR" sz="1200" dirty="0"/>
          </a:p>
        </p:txBody>
      </p:sp>
      <p:sp>
        <p:nvSpPr>
          <p:cNvPr id="35" name="Organigramme : Décision 34">
            <a:extLst>
              <a:ext uri="{FF2B5EF4-FFF2-40B4-BE49-F238E27FC236}">
                <a16:creationId xmlns:a16="http://schemas.microsoft.com/office/drawing/2014/main" id="{5B60A815-24DB-4016-9540-05E47DD00AF4}"/>
              </a:ext>
            </a:extLst>
          </p:cNvPr>
          <p:cNvSpPr/>
          <p:nvPr/>
        </p:nvSpPr>
        <p:spPr>
          <a:xfrm>
            <a:off x="3122778" y="4570011"/>
            <a:ext cx="140970" cy="226942"/>
          </a:xfrm>
          <a:prstGeom prst="flowChartDecisi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28E46909-6564-489C-9887-EECFC7093555}"/>
              </a:ext>
            </a:extLst>
          </p:cNvPr>
          <p:cNvCxnSpPr>
            <a:cxnSpLocks/>
            <a:stCxn id="35" idx="2"/>
            <a:endCxn id="40" idx="0"/>
          </p:cNvCxnSpPr>
          <p:nvPr/>
        </p:nvCxnSpPr>
        <p:spPr>
          <a:xfrm>
            <a:off x="3193263" y="4796953"/>
            <a:ext cx="1" cy="172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rganigramme : Procédé 37">
            <a:extLst>
              <a:ext uri="{FF2B5EF4-FFF2-40B4-BE49-F238E27FC236}">
                <a16:creationId xmlns:a16="http://schemas.microsoft.com/office/drawing/2014/main" id="{C724ED56-EFB5-46E6-B1D9-06424D6D64A5}"/>
              </a:ext>
            </a:extLst>
          </p:cNvPr>
          <p:cNvSpPr/>
          <p:nvPr/>
        </p:nvSpPr>
        <p:spPr>
          <a:xfrm>
            <a:off x="2364589" y="4975446"/>
            <a:ext cx="1644624" cy="1120243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25F9E7B5-D1FC-46BE-B5DD-DF52F8AA20EC}"/>
              </a:ext>
            </a:extLst>
          </p:cNvPr>
          <p:cNvCxnSpPr>
            <a:cxnSpLocks/>
          </p:cNvCxnSpPr>
          <p:nvPr/>
        </p:nvCxnSpPr>
        <p:spPr>
          <a:xfrm flipV="1">
            <a:off x="2364589" y="5260940"/>
            <a:ext cx="1644624" cy="256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A3C66683-051B-4C2F-BD15-C2BC20985C5D}"/>
              </a:ext>
            </a:extLst>
          </p:cNvPr>
          <p:cNvSpPr txBox="1"/>
          <p:nvPr/>
        </p:nvSpPr>
        <p:spPr>
          <a:xfrm>
            <a:off x="2830361" y="4969751"/>
            <a:ext cx="7258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Contenu</a:t>
            </a:r>
          </a:p>
        </p:txBody>
      </p:sp>
      <p:sp>
        <p:nvSpPr>
          <p:cNvPr id="47" name="Organigramme : Procédé 46">
            <a:extLst>
              <a:ext uri="{FF2B5EF4-FFF2-40B4-BE49-F238E27FC236}">
                <a16:creationId xmlns:a16="http://schemas.microsoft.com/office/drawing/2014/main" id="{8370FD5F-700B-4DCB-858B-F3CB3E470D60}"/>
              </a:ext>
            </a:extLst>
          </p:cNvPr>
          <p:cNvSpPr/>
          <p:nvPr/>
        </p:nvSpPr>
        <p:spPr>
          <a:xfrm>
            <a:off x="2594558" y="6511114"/>
            <a:ext cx="1235463" cy="1386908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97AA9F7E-7E58-4241-AE26-D60165EE7AC9}"/>
              </a:ext>
            </a:extLst>
          </p:cNvPr>
          <p:cNvSpPr txBox="1"/>
          <p:nvPr/>
        </p:nvSpPr>
        <p:spPr>
          <a:xfrm>
            <a:off x="2796180" y="6557406"/>
            <a:ext cx="816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/>
              <a:t>« Union »</a:t>
            </a:r>
          </a:p>
          <a:p>
            <a:pPr algn="ctr"/>
            <a:r>
              <a:rPr lang="fr-FR" sz="1200" b="1" dirty="0"/>
              <a:t>HTML</a:t>
            </a:r>
          </a:p>
        </p:txBody>
      </p: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BB88B0ED-31AD-4E03-B983-1740E72CD234}"/>
              </a:ext>
            </a:extLst>
          </p:cNvPr>
          <p:cNvCxnSpPr>
            <a:cxnSpLocks/>
          </p:cNvCxnSpPr>
          <p:nvPr/>
        </p:nvCxnSpPr>
        <p:spPr>
          <a:xfrm flipH="1">
            <a:off x="1588377" y="3001429"/>
            <a:ext cx="643890" cy="75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ZoneTexte 55">
            <a:extLst>
              <a:ext uri="{FF2B5EF4-FFF2-40B4-BE49-F238E27FC236}">
                <a16:creationId xmlns:a16="http://schemas.microsoft.com/office/drawing/2014/main" id="{46C04EAF-F4A4-4E2B-93F7-AFCDC3B8CA85}"/>
              </a:ext>
            </a:extLst>
          </p:cNvPr>
          <p:cNvSpPr txBox="1"/>
          <p:nvPr/>
        </p:nvSpPr>
        <p:spPr>
          <a:xfrm>
            <a:off x="1528578" y="2775221"/>
            <a:ext cx="7905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s’applique sur</a:t>
            </a:r>
          </a:p>
        </p:txBody>
      </p: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16A94243-C0B5-44C7-9499-C098FA26BCE1}"/>
              </a:ext>
            </a:extLst>
          </p:cNvPr>
          <p:cNvCxnSpPr>
            <a:cxnSpLocks/>
          </p:cNvCxnSpPr>
          <p:nvPr/>
        </p:nvCxnSpPr>
        <p:spPr>
          <a:xfrm flipH="1">
            <a:off x="1615467" y="3008995"/>
            <a:ext cx="622962" cy="15479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5234530B-29F8-4AFD-BB84-8B564F95A9B4}"/>
              </a:ext>
            </a:extLst>
          </p:cNvPr>
          <p:cNvCxnSpPr>
            <a:cxnSpLocks/>
            <a:stCxn id="38" idx="1"/>
          </p:cNvCxnSpPr>
          <p:nvPr/>
        </p:nvCxnSpPr>
        <p:spPr>
          <a:xfrm flipH="1" flipV="1">
            <a:off x="1583474" y="4793462"/>
            <a:ext cx="781115" cy="7421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ZoneTexte 63">
            <a:extLst>
              <a:ext uri="{FF2B5EF4-FFF2-40B4-BE49-F238E27FC236}">
                <a16:creationId xmlns:a16="http://schemas.microsoft.com/office/drawing/2014/main" id="{288128FA-F45E-482A-BDB7-9119252E7C9E}"/>
              </a:ext>
            </a:extLst>
          </p:cNvPr>
          <p:cNvSpPr txBox="1"/>
          <p:nvPr/>
        </p:nvSpPr>
        <p:spPr>
          <a:xfrm>
            <a:off x="1336598" y="3530423"/>
            <a:ext cx="7905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s’applique à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E0D8D7DD-15AC-426B-804E-AEA3F57DF881}"/>
              </a:ext>
            </a:extLst>
          </p:cNvPr>
          <p:cNvSpPr txBox="1"/>
          <p:nvPr/>
        </p:nvSpPr>
        <p:spPr>
          <a:xfrm>
            <a:off x="1670039" y="4776732"/>
            <a:ext cx="7905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s’applique à</a:t>
            </a:r>
          </a:p>
        </p:txBody>
      </p: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867D54D1-A166-4987-8822-4450329119C9}"/>
              </a:ext>
            </a:extLst>
          </p:cNvPr>
          <p:cNvCxnSpPr>
            <a:cxnSpLocks/>
            <a:stCxn id="38" idx="1"/>
            <a:endCxn id="8" idx="3"/>
          </p:cNvCxnSpPr>
          <p:nvPr/>
        </p:nvCxnSpPr>
        <p:spPr>
          <a:xfrm flipH="1">
            <a:off x="1654641" y="5535568"/>
            <a:ext cx="709948" cy="4276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050B2D55-FA3D-4B11-9C2D-E5A2EFBA66CA}"/>
              </a:ext>
            </a:extLst>
          </p:cNvPr>
          <p:cNvSpPr txBox="1"/>
          <p:nvPr/>
        </p:nvSpPr>
        <p:spPr>
          <a:xfrm>
            <a:off x="1615466" y="5482844"/>
            <a:ext cx="6016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concerne</a:t>
            </a:r>
          </a:p>
        </p:txBody>
      </p:sp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F859FE52-9EA1-4079-A28A-FA7A778D45CF}"/>
              </a:ext>
            </a:extLst>
          </p:cNvPr>
          <p:cNvCxnSpPr>
            <a:cxnSpLocks/>
          </p:cNvCxnSpPr>
          <p:nvPr/>
        </p:nvCxnSpPr>
        <p:spPr>
          <a:xfrm flipH="1" flipV="1">
            <a:off x="1654641" y="6095689"/>
            <a:ext cx="939917" cy="6271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ZoneTexte 74">
            <a:extLst>
              <a:ext uri="{FF2B5EF4-FFF2-40B4-BE49-F238E27FC236}">
                <a16:creationId xmlns:a16="http://schemas.microsoft.com/office/drawing/2014/main" id="{4C2CEB6F-EB85-4FEA-A677-6654E31519A2}"/>
              </a:ext>
            </a:extLst>
          </p:cNvPr>
          <p:cNvSpPr txBox="1"/>
          <p:nvPr/>
        </p:nvSpPr>
        <p:spPr>
          <a:xfrm>
            <a:off x="1901272" y="6524143"/>
            <a:ext cx="6016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concerne</a:t>
            </a:r>
          </a:p>
        </p:txBody>
      </p:sp>
      <p:sp>
        <p:nvSpPr>
          <p:cNvPr id="94" name="Organigramme : Procédé 93">
            <a:extLst>
              <a:ext uri="{FF2B5EF4-FFF2-40B4-BE49-F238E27FC236}">
                <a16:creationId xmlns:a16="http://schemas.microsoft.com/office/drawing/2014/main" id="{F4943768-EB2A-4105-A8C6-1CD250B36B88}"/>
              </a:ext>
            </a:extLst>
          </p:cNvPr>
          <p:cNvSpPr/>
          <p:nvPr/>
        </p:nvSpPr>
        <p:spPr>
          <a:xfrm>
            <a:off x="4974057" y="4593017"/>
            <a:ext cx="1751587" cy="975982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5" name="Connecteur droit 94">
            <a:extLst>
              <a:ext uri="{FF2B5EF4-FFF2-40B4-BE49-F238E27FC236}">
                <a16:creationId xmlns:a16="http://schemas.microsoft.com/office/drawing/2014/main" id="{981899B2-9DAF-4723-976C-7963B7A91CDE}"/>
              </a:ext>
            </a:extLst>
          </p:cNvPr>
          <p:cNvCxnSpPr/>
          <p:nvPr/>
        </p:nvCxnSpPr>
        <p:spPr>
          <a:xfrm>
            <a:off x="4974058" y="4878766"/>
            <a:ext cx="165735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6" name="ZoneTexte 95">
            <a:extLst>
              <a:ext uri="{FF2B5EF4-FFF2-40B4-BE49-F238E27FC236}">
                <a16:creationId xmlns:a16="http://schemas.microsoft.com/office/drawing/2014/main" id="{1E20128B-7824-4DE1-B781-ACE92279D38F}"/>
              </a:ext>
            </a:extLst>
          </p:cNvPr>
          <p:cNvSpPr txBox="1"/>
          <p:nvPr/>
        </p:nvSpPr>
        <p:spPr>
          <a:xfrm>
            <a:off x="5507921" y="4601766"/>
            <a:ext cx="7258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200" b="1" dirty="0" err="1"/>
              <a:t>Regle</a:t>
            </a:r>
            <a:endParaRPr lang="fr-FR" sz="1200" b="1" dirty="0"/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5FA5285C-76DD-46DD-9A5B-101E32C9598E}"/>
              </a:ext>
            </a:extLst>
          </p:cNvPr>
          <p:cNvSpPr txBox="1"/>
          <p:nvPr/>
        </p:nvSpPr>
        <p:spPr>
          <a:xfrm>
            <a:off x="4974058" y="4878766"/>
            <a:ext cx="148311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200" dirty="0"/>
              <a:t>+</a:t>
            </a:r>
            <a:r>
              <a:rPr lang="fr-FR" sz="1200" dirty="0" err="1"/>
              <a:t>idRegle</a:t>
            </a:r>
            <a:r>
              <a:rPr lang="fr-FR" sz="1200" dirty="0"/>
              <a:t> : URI</a:t>
            </a:r>
          </a:p>
          <a:p>
            <a:r>
              <a:rPr lang="fr-FR" sz="1200" dirty="0"/>
              <a:t>+</a:t>
            </a:r>
            <a:r>
              <a:rPr lang="fr-FR" sz="1200" dirty="0" err="1"/>
              <a:t>idContenu</a:t>
            </a:r>
            <a:r>
              <a:rPr lang="fr-FR" sz="1200" dirty="0"/>
              <a:t>: URI</a:t>
            </a:r>
          </a:p>
          <a:p>
            <a:r>
              <a:rPr lang="fr-FR" sz="1200" dirty="0"/>
              <a:t>+renvoi : URI</a:t>
            </a:r>
          </a:p>
        </p:txBody>
      </p:sp>
      <p:sp>
        <p:nvSpPr>
          <p:cNvPr id="99" name="Organigramme : Procédé 98">
            <a:extLst>
              <a:ext uri="{FF2B5EF4-FFF2-40B4-BE49-F238E27FC236}">
                <a16:creationId xmlns:a16="http://schemas.microsoft.com/office/drawing/2014/main" id="{1962B075-51F9-495D-A427-969477F6F8C1}"/>
              </a:ext>
            </a:extLst>
          </p:cNvPr>
          <p:cNvSpPr/>
          <p:nvPr/>
        </p:nvSpPr>
        <p:spPr>
          <a:xfrm>
            <a:off x="4947415" y="6425326"/>
            <a:ext cx="1657350" cy="989132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6652E3F5-7CF2-45EE-BEDA-949847FAC9CC}"/>
              </a:ext>
            </a:extLst>
          </p:cNvPr>
          <p:cNvCxnSpPr/>
          <p:nvPr/>
        </p:nvCxnSpPr>
        <p:spPr>
          <a:xfrm>
            <a:off x="4950878" y="6711883"/>
            <a:ext cx="165735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1" name="ZoneTexte 100">
            <a:extLst>
              <a:ext uri="{FF2B5EF4-FFF2-40B4-BE49-F238E27FC236}">
                <a16:creationId xmlns:a16="http://schemas.microsoft.com/office/drawing/2014/main" id="{70BA2D7C-EF92-4AF4-A748-51E735768196}"/>
              </a:ext>
            </a:extLst>
          </p:cNvPr>
          <p:cNvSpPr txBox="1"/>
          <p:nvPr/>
        </p:nvSpPr>
        <p:spPr>
          <a:xfrm>
            <a:off x="5327370" y="6429036"/>
            <a:ext cx="88740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200" b="1" dirty="0"/>
              <a:t>Condition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28E0662A-6AE3-4DA0-8D08-01CC052316AE}"/>
              </a:ext>
            </a:extLst>
          </p:cNvPr>
          <p:cNvSpPr txBox="1"/>
          <p:nvPr/>
        </p:nvSpPr>
        <p:spPr>
          <a:xfrm>
            <a:off x="4950878" y="6711883"/>
            <a:ext cx="172601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200" dirty="0"/>
              <a:t>+</a:t>
            </a:r>
            <a:r>
              <a:rPr lang="fr-FR" sz="1200" dirty="0" err="1"/>
              <a:t>idCondition</a:t>
            </a:r>
            <a:r>
              <a:rPr lang="fr-FR" sz="1200" dirty="0"/>
              <a:t> : UR</a:t>
            </a:r>
          </a:p>
          <a:p>
            <a:r>
              <a:rPr lang="fr-FR" sz="1200" dirty="0"/>
              <a:t>+libelle : varchar</a:t>
            </a:r>
          </a:p>
          <a:p>
            <a:r>
              <a:rPr lang="fr-FR" sz="1200" dirty="0"/>
              <a:t>+</a:t>
            </a:r>
            <a:r>
              <a:rPr lang="fr-FR" sz="1200" dirty="0" err="1"/>
              <a:t>catCondition</a:t>
            </a:r>
            <a:r>
              <a:rPr lang="fr-FR" sz="1200" dirty="0"/>
              <a:t> : varchar</a:t>
            </a:r>
          </a:p>
        </p:txBody>
      </p:sp>
      <p:sp>
        <p:nvSpPr>
          <p:cNvPr id="104" name="Organigramme : Procédé 103">
            <a:extLst>
              <a:ext uri="{FF2B5EF4-FFF2-40B4-BE49-F238E27FC236}">
                <a16:creationId xmlns:a16="http://schemas.microsoft.com/office/drawing/2014/main" id="{5068E72F-93F1-465E-9C0C-9214C85A1305}"/>
              </a:ext>
            </a:extLst>
          </p:cNvPr>
          <p:cNvSpPr/>
          <p:nvPr/>
        </p:nvSpPr>
        <p:spPr>
          <a:xfrm>
            <a:off x="4891285" y="8677933"/>
            <a:ext cx="1657350" cy="385604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chemeClr val="tx1"/>
                </a:solidFill>
              </a:rPr>
              <a:t>conditionSpecifique</a:t>
            </a:r>
            <a:endParaRPr lang="fr-FR" sz="1200" dirty="0">
              <a:solidFill>
                <a:schemeClr val="tx1"/>
              </a:solidFill>
            </a:endParaRPr>
          </a:p>
        </p:txBody>
      </p:sp>
      <p:cxnSp>
        <p:nvCxnSpPr>
          <p:cNvPr id="115" name="Connecteur : en angle 114">
            <a:extLst>
              <a:ext uri="{FF2B5EF4-FFF2-40B4-BE49-F238E27FC236}">
                <a16:creationId xmlns:a16="http://schemas.microsoft.com/office/drawing/2014/main" id="{F3C63892-C762-4581-B398-3EB1C2F91181}"/>
              </a:ext>
            </a:extLst>
          </p:cNvPr>
          <p:cNvCxnSpPr>
            <a:cxnSpLocks/>
            <a:stCxn id="104" idx="1"/>
            <a:endCxn id="8" idx="2"/>
          </p:cNvCxnSpPr>
          <p:nvPr/>
        </p:nvCxnSpPr>
        <p:spPr>
          <a:xfrm rot="10800000">
            <a:off x="913085" y="6264327"/>
            <a:ext cx="3978200" cy="260640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Triangle isocèle 115">
            <a:extLst>
              <a:ext uri="{FF2B5EF4-FFF2-40B4-BE49-F238E27FC236}">
                <a16:creationId xmlns:a16="http://schemas.microsoft.com/office/drawing/2014/main" id="{3C2C2D75-A949-4EFF-81E3-C09275706D13}"/>
              </a:ext>
            </a:extLst>
          </p:cNvPr>
          <p:cNvSpPr/>
          <p:nvPr/>
        </p:nvSpPr>
        <p:spPr>
          <a:xfrm>
            <a:off x="5810146" y="7414458"/>
            <a:ext cx="136486" cy="177365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9ACFFC9F-73CA-4D5E-B64B-957C564150A9}"/>
              </a:ext>
            </a:extLst>
          </p:cNvPr>
          <p:cNvCxnSpPr>
            <a:cxnSpLocks/>
          </p:cNvCxnSpPr>
          <p:nvPr/>
        </p:nvCxnSpPr>
        <p:spPr>
          <a:xfrm flipH="1">
            <a:off x="5870823" y="7600664"/>
            <a:ext cx="6240" cy="10861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Organigramme : Décision 121">
            <a:extLst>
              <a:ext uri="{FF2B5EF4-FFF2-40B4-BE49-F238E27FC236}">
                <a16:creationId xmlns:a16="http://schemas.microsoft.com/office/drawing/2014/main" id="{5040FD73-101B-403A-8F01-05583074BF42}"/>
              </a:ext>
            </a:extLst>
          </p:cNvPr>
          <p:cNvSpPr/>
          <p:nvPr/>
        </p:nvSpPr>
        <p:spPr>
          <a:xfrm>
            <a:off x="5703084" y="5588172"/>
            <a:ext cx="140970" cy="226942"/>
          </a:xfrm>
          <a:prstGeom prst="flowChartDecisi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3" name="Connecteur droit avec flèche 122">
            <a:extLst>
              <a:ext uri="{FF2B5EF4-FFF2-40B4-BE49-F238E27FC236}">
                <a16:creationId xmlns:a16="http://schemas.microsoft.com/office/drawing/2014/main" id="{344110A1-0E41-4D51-872F-64145CB5A4BC}"/>
              </a:ext>
            </a:extLst>
          </p:cNvPr>
          <p:cNvCxnSpPr>
            <a:cxnSpLocks/>
            <a:stCxn id="122" idx="2"/>
            <a:endCxn id="101" idx="0"/>
          </p:cNvCxnSpPr>
          <p:nvPr/>
        </p:nvCxnSpPr>
        <p:spPr>
          <a:xfrm flipH="1">
            <a:off x="5771072" y="5815114"/>
            <a:ext cx="2497" cy="6139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Organigramme : Procédé 127">
            <a:extLst>
              <a:ext uri="{FF2B5EF4-FFF2-40B4-BE49-F238E27FC236}">
                <a16:creationId xmlns:a16="http://schemas.microsoft.com/office/drawing/2014/main" id="{C0E5936A-4F7F-4B81-A863-143E60784CF9}"/>
              </a:ext>
            </a:extLst>
          </p:cNvPr>
          <p:cNvSpPr/>
          <p:nvPr/>
        </p:nvSpPr>
        <p:spPr>
          <a:xfrm>
            <a:off x="4872444" y="2452044"/>
            <a:ext cx="1657350" cy="1173727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29" name="Connecteur droit 128">
            <a:extLst>
              <a:ext uri="{FF2B5EF4-FFF2-40B4-BE49-F238E27FC236}">
                <a16:creationId xmlns:a16="http://schemas.microsoft.com/office/drawing/2014/main" id="{2BE991C4-AF8F-4B37-9B5D-68141FA2B7CE}"/>
              </a:ext>
            </a:extLst>
          </p:cNvPr>
          <p:cNvCxnSpPr/>
          <p:nvPr/>
        </p:nvCxnSpPr>
        <p:spPr>
          <a:xfrm>
            <a:off x="4872444" y="2737794"/>
            <a:ext cx="165735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0" name="ZoneTexte 129">
            <a:extLst>
              <a:ext uri="{FF2B5EF4-FFF2-40B4-BE49-F238E27FC236}">
                <a16:creationId xmlns:a16="http://schemas.microsoft.com/office/drawing/2014/main" id="{F281A8A7-A544-42FE-B961-94E9C7121BCC}"/>
              </a:ext>
            </a:extLst>
          </p:cNvPr>
          <p:cNvSpPr txBox="1"/>
          <p:nvPr/>
        </p:nvSpPr>
        <p:spPr>
          <a:xfrm>
            <a:off x="5274527" y="2460796"/>
            <a:ext cx="92625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200" b="1" dirty="0"/>
              <a:t>Contrainte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91F7FCAF-830D-4109-9B30-0371D76B18A4}"/>
              </a:ext>
            </a:extLst>
          </p:cNvPr>
          <p:cNvSpPr txBox="1"/>
          <p:nvPr/>
        </p:nvSpPr>
        <p:spPr>
          <a:xfrm>
            <a:off x="4872444" y="2737794"/>
            <a:ext cx="1885194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200" dirty="0"/>
              <a:t>+</a:t>
            </a:r>
            <a:r>
              <a:rPr lang="fr-FR" sz="1200" dirty="0" err="1"/>
              <a:t>idContrainte</a:t>
            </a:r>
            <a:r>
              <a:rPr lang="fr-FR" sz="1200" dirty="0"/>
              <a:t> : URI</a:t>
            </a:r>
          </a:p>
          <a:p>
            <a:r>
              <a:rPr lang="fr-FR" sz="1200" dirty="0"/>
              <a:t>+libelle : varchar</a:t>
            </a:r>
          </a:p>
          <a:p>
            <a:r>
              <a:rPr lang="fr-FR" sz="1200" dirty="0"/>
              <a:t>+</a:t>
            </a:r>
            <a:r>
              <a:rPr lang="fr-FR" sz="1200" dirty="0" err="1"/>
              <a:t>catContrainte</a:t>
            </a:r>
            <a:r>
              <a:rPr lang="fr-FR" sz="1200" dirty="0"/>
              <a:t> : varchar</a:t>
            </a:r>
          </a:p>
          <a:p>
            <a:r>
              <a:rPr lang="fr-FR" sz="1200" dirty="0"/>
              <a:t>+renvoi : URI</a:t>
            </a:r>
          </a:p>
          <a:p>
            <a:endParaRPr lang="fr-FR" sz="1200" dirty="0"/>
          </a:p>
        </p:txBody>
      </p:sp>
      <p:sp>
        <p:nvSpPr>
          <p:cNvPr id="132" name="Organigramme : Décision 131">
            <a:extLst>
              <a:ext uri="{FF2B5EF4-FFF2-40B4-BE49-F238E27FC236}">
                <a16:creationId xmlns:a16="http://schemas.microsoft.com/office/drawing/2014/main" id="{7E760A30-A336-464E-B36F-CA6E92AF55A3}"/>
              </a:ext>
            </a:extLst>
          </p:cNvPr>
          <p:cNvSpPr/>
          <p:nvPr/>
        </p:nvSpPr>
        <p:spPr>
          <a:xfrm>
            <a:off x="5642577" y="4403104"/>
            <a:ext cx="123777" cy="186686"/>
          </a:xfrm>
          <a:prstGeom prst="flowChartDecisi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3" name="Connecteur droit avec flèche 132">
            <a:extLst>
              <a:ext uri="{FF2B5EF4-FFF2-40B4-BE49-F238E27FC236}">
                <a16:creationId xmlns:a16="http://schemas.microsoft.com/office/drawing/2014/main" id="{4DBB206D-392C-4E7F-B1D1-3BFAA4735144}"/>
              </a:ext>
            </a:extLst>
          </p:cNvPr>
          <p:cNvCxnSpPr>
            <a:cxnSpLocks/>
            <a:stCxn id="132" idx="0"/>
          </p:cNvCxnSpPr>
          <p:nvPr/>
        </p:nvCxnSpPr>
        <p:spPr>
          <a:xfrm flipV="1">
            <a:off x="5704466" y="3617882"/>
            <a:ext cx="0" cy="7852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rganigramme : Procédé 137">
            <a:extLst>
              <a:ext uri="{FF2B5EF4-FFF2-40B4-BE49-F238E27FC236}">
                <a16:creationId xmlns:a16="http://schemas.microsoft.com/office/drawing/2014/main" id="{6A6C0CED-291E-4DEF-93C7-726629D4D537}"/>
              </a:ext>
            </a:extLst>
          </p:cNvPr>
          <p:cNvSpPr/>
          <p:nvPr/>
        </p:nvSpPr>
        <p:spPr>
          <a:xfrm>
            <a:off x="695325" y="95250"/>
            <a:ext cx="5419725" cy="32114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Standards </a:t>
            </a:r>
            <a:r>
              <a:rPr lang="fr-FR" dirty="0">
                <a:solidFill>
                  <a:schemeClr val="accent4">
                    <a:lumMod val="75000"/>
                  </a:schemeClr>
                </a:solidFill>
              </a:rPr>
              <a:t>CNIG PLU </a:t>
            </a:r>
            <a:r>
              <a:rPr lang="fr-FR" dirty="0">
                <a:solidFill>
                  <a:schemeClr val="tx1"/>
                </a:solidFill>
              </a:rPr>
              <a:t>/ </a:t>
            </a: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SRU niveau 1 </a:t>
            </a:r>
            <a:r>
              <a:rPr lang="fr-FR" dirty="0">
                <a:solidFill>
                  <a:schemeClr val="tx1"/>
                </a:solidFill>
              </a:rPr>
              <a:t>/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SRU niveau 2</a:t>
            </a:r>
          </a:p>
        </p:txBody>
      </p:sp>
      <p:sp>
        <p:nvSpPr>
          <p:cNvPr id="143" name="Organigramme : Procédé 142">
            <a:extLst>
              <a:ext uri="{FF2B5EF4-FFF2-40B4-BE49-F238E27FC236}">
                <a16:creationId xmlns:a16="http://schemas.microsoft.com/office/drawing/2014/main" id="{5D476194-7A54-49A8-8EFA-E8289D27684D}"/>
              </a:ext>
            </a:extLst>
          </p:cNvPr>
          <p:cNvSpPr/>
          <p:nvPr/>
        </p:nvSpPr>
        <p:spPr>
          <a:xfrm>
            <a:off x="4404867" y="1195596"/>
            <a:ext cx="1533319" cy="614145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44" name="Connecteur droit 143">
            <a:extLst>
              <a:ext uri="{FF2B5EF4-FFF2-40B4-BE49-F238E27FC236}">
                <a16:creationId xmlns:a16="http://schemas.microsoft.com/office/drawing/2014/main" id="{63EB7C64-25E1-4596-8FAA-407BE4AEE80D}"/>
              </a:ext>
            </a:extLst>
          </p:cNvPr>
          <p:cNvCxnSpPr>
            <a:cxnSpLocks/>
          </p:cNvCxnSpPr>
          <p:nvPr/>
        </p:nvCxnSpPr>
        <p:spPr>
          <a:xfrm>
            <a:off x="4404867" y="1479829"/>
            <a:ext cx="1533319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5" name="ZoneTexte 144">
            <a:extLst>
              <a:ext uri="{FF2B5EF4-FFF2-40B4-BE49-F238E27FC236}">
                <a16:creationId xmlns:a16="http://schemas.microsoft.com/office/drawing/2014/main" id="{B4D0C5C7-DD55-45BF-BAD4-2C09B07CBB1D}"/>
              </a:ext>
            </a:extLst>
          </p:cNvPr>
          <p:cNvSpPr txBox="1"/>
          <p:nvPr/>
        </p:nvSpPr>
        <p:spPr>
          <a:xfrm>
            <a:off x="4470566" y="1216919"/>
            <a:ext cx="134447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200" b="1" dirty="0"/>
              <a:t>Operateur logique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D9968CB2-1B86-400D-AC79-CA24493CE133}"/>
              </a:ext>
            </a:extLst>
          </p:cNvPr>
          <p:cNvSpPr txBox="1"/>
          <p:nvPr/>
        </p:nvSpPr>
        <p:spPr>
          <a:xfrm>
            <a:off x="4404869" y="1483675"/>
            <a:ext cx="151227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200" dirty="0"/>
              <a:t>+</a:t>
            </a:r>
            <a:r>
              <a:rPr lang="fr-FR" sz="1200" dirty="0" err="1"/>
              <a:t>operator</a:t>
            </a:r>
            <a:r>
              <a:rPr lang="fr-FR" sz="1200" dirty="0"/>
              <a:t>: {OR, AND}</a:t>
            </a:r>
          </a:p>
        </p:txBody>
      </p:sp>
      <p:sp>
        <p:nvSpPr>
          <p:cNvPr id="148" name="Organigramme : Procédé 147">
            <a:extLst>
              <a:ext uri="{FF2B5EF4-FFF2-40B4-BE49-F238E27FC236}">
                <a16:creationId xmlns:a16="http://schemas.microsoft.com/office/drawing/2014/main" id="{0F744DD7-FCD0-4B42-8A34-EE97D83931FC}"/>
              </a:ext>
            </a:extLst>
          </p:cNvPr>
          <p:cNvSpPr/>
          <p:nvPr/>
        </p:nvSpPr>
        <p:spPr>
          <a:xfrm>
            <a:off x="3990299" y="7660325"/>
            <a:ext cx="1483111" cy="583844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49" name="Connecteur droit 148">
            <a:extLst>
              <a:ext uri="{FF2B5EF4-FFF2-40B4-BE49-F238E27FC236}">
                <a16:creationId xmlns:a16="http://schemas.microsoft.com/office/drawing/2014/main" id="{C733D7CE-8104-4D30-A742-66124B4843B5}"/>
              </a:ext>
            </a:extLst>
          </p:cNvPr>
          <p:cNvCxnSpPr>
            <a:cxnSpLocks/>
          </p:cNvCxnSpPr>
          <p:nvPr/>
        </p:nvCxnSpPr>
        <p:spPr>
          <a:xfrm>
            <a:off x="3990299" y="7944557"/>
            <a:ext cx="1483111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" name="ZoneTexte 149">
            <a:extLst>
              <a:ext uri="{FF2B5EF4-FFF2-40B4-BE49-F238E27FC236}">
                <a16:creationId xmlns:a16="http://schemas.microsoft.com/office/drawing/2014/main" id="{EEAEC036-574A-44CB-A305-065F265390CE}"/>
              </a:ext>
            </a:extLst>
          </p:cNvPr>
          <p:cNvSpPr txBox="1"/>
          <p:nvPr/>
        </p:nvSpPr>
        <p:spPr>
          <a:xfrm>
            <a:off x="4004230" y="7675326"/>
            <a:ext cx="148311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200" b="1" dirty="0"/>
              <a:t>Operateur logique</a:t>
            </a:r>
          </a:p>
        </p:txBody>
      </p:sp>
      <p:sp>
        <p:nvSpPr>
          <p:cNvPr id="151" name="ZoneTexte 150">
            <a:extLst>
              <a:ext uri="{FF2B5EF4-FFF2-40B4-BE49-F238E27FC236}">
                <a16:creationId xmlns:a16="http://schemas.microsoft.com/office/drawing/2014/main" id="{C3F6D474-8048-4478-8729-9B93A0B54051}"/>
              </a:ext>
            </a:extLst>
          </p:cNvPr>
          <p:cNvSpPr txBox="1"/>
          <p:nvPr/>
        </p:nvSpPr>
        <p:spPr>
          <a:xfrm>
            <a:off x="3985851" y="7936195"/>
            <a:ext cx="151227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200" dirty="0"/>
              <a:t>+</a:t>
            </a:r>
            <a:r>
              <a:rPr lang="fr-FR" sz="1200" dirty="0" err="1"/>
              <a:t>operator</a:t>
            </a:r>
            <a:r>
              <a:rPr lang="fr-FR" sz="1200" dirty="0"/>
              <a:t>: {OR, AND}</a:t>
            </a:r>
          </a:p>
        </p:txBody>
      </p:sp>
      <p:cxnSp>
        <p:nvCxnSpPr>
          <p:cNvPr id="159" name="Connecteur : en angle 158">
            <a:extLst>
              <a:ext uri="{FF2B5EF4-FFF2-40B4-BE49-F238E27FC236}">
                <a16:creationId xmlns:a16="http://schemas.microsoft.com/office/drawing/2014/main" id="{EAB28589-C205-4674-BF2C-7EAD80F29EFE}"/>
              </a:ext>
            </a:extLst>
          </p:cNvPr>
          <p:cNvCxnSpPr>
            <a:cxnSpLocks/>
            <a:stCxn id="148" idx="0"/>
            <a:endCxn id="102" idx="1"/>
          </p:cNvCxnSpPr>
          <p:nvPr/>
        </p:nvCxnSpPr>
        <p:spPr>
          <a:xfrm rot="5400000" flipH="1" flipV="1">
            <a:off x="4528728" y="7238176"/>
            <a:ext cx="625276" cy="2190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Connecteur : en angle 160">
            <a:extLst>
              <a:ext uri="{FF2B5EF4-FFF2-40B4-BE49-F238E27FC236}">
                <a16:creationId xmlns:a16="http://schemas.microsoft.com/office/drawing/2014/main" id="{6CEF0550-1724-49B9-8A24-628333BA2A17}"/>
              </a:ext>
            </a:extLst>
          </p:cNvPr>
          <p:cNvCxnSpPr>
            <a:cxnSpLocks/>
            <a:stCxn id="99" idx="2"/>
            <a:endCxn id="151" idx="3"/>
          </p:cNvCxnSpPr>
          <p:nvPr/>
        </p:nvCxnSpPr>
        <p:spPr>
          <a:xfrm rot="5400000">
            <a:off x="5306992" y="7605596"/>
            <a:ext cx="660237" cy="2779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9" name="ZoneTexte 168">
            <a:extLst>
              <a:ext uri="{FF2B5EF4-FFF2-40B4-BE49-F238E27FC236}">
                <a16:creationId xmlns:a16="http://schemas.microsoft.com/office/drawing/2014/main" id="{F260392B-BA74-45FF-B12B-E0174C5D51CA}"/>
              </a:ext>
            </a:extLst>
          </p:cNvPr>
          <p:cNvSpPr txBox="1"/>
          <p:nvPr/>
        </p:nvSpPr>
        <p:spPr>
          <a:xfrm>
            <a:off x="4788998" y="8218798"/>
            <a:ext cx="9710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Condition suivante</a:t>
            </a:r>
          </a:p>
        </p:txBody>
      </p:sp>
      <p:sp>
        <p:nvSpPr>
          <p:cNvPr id="170" name="ZoneTexte 169">
            <a:extLst>
              <a:ext uri="{FF2B5EF4-FFF2-40B4-BE49-F238E27FC236}">
                <a16:creationId xmlns:a16="http://schemas.microsoft.com/office/drawing/2014/main" id="{1B83751D-FCB2-46DD-8437-3659185C93E8}"/>
              </a:ext>
            </a:extLst>
          </p:cNvPr>
          <p:cNvSpPr txBox="1"/>
          <p:nvPr/>
        </p:nvSpPr>
        <p:spPr>
          <a:xfrm>
            <a:off x="4614653" y="6844303"/>
            <a:ext cx="4534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nom</a:t>
            </a:r>
          </a:p>
        </p:txBody>
      </p:sp>
      <p:cxnSp>
        <p:nvCxnSpPr>
          <p:cNvPr id="171" name="Connecteur : en angle 170">
            <a:extLst>
              <a:ext uri="{FF2B5EF4-FFF2-40B4-BE49-F238E27FC236}">
                <a16:creationId xmlns:a16="http://schemas.microsoft.com/office/drawing/2014/main" id="{11F33582-CF4D-4F3D-9372-8CB11C8AB186}"/>
              </a:ext>
            </a:extLst>
          </p:cNvPr>
          <p:cNvCxnSpPr>
            <a:cxnSpLocks/>
            <a:endCxn id="143" idx="3"/>
          </p:cNvCxnSpPr>
          <p:nvPr/>
        </p:nvCxnSpPr>
        <p:spPr>
          <a:xfrm rot="16200000" flipV="1">
            <a:off x="5704292" y="1736563"/>
            <a:ext cx="954830" cy="4870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6" name="ZoneTexte 175">
            <a:extLst>
              <a:ext uri="{FF2B5EF4-FFF2-40B4-BE49-F238E27FC236}">
                <a16:creationId xmlns:a16="http://schemas.microsoft.com/office/drawing/2014/main" id="{6548E387-439B-4679-BA40-FED0A06DC848}"/>
              </a:ext>
            </a:extLst>
          </p:cNvPr>
          <p:cNvSpPr txBox="1"/>
          <p:nvPr/>
        </p:nvSpPr>
        <p:spPr>
          <a:xfrm>
            <a:off x="5938186" y="1267261"/>
            <a:ext cx="12069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contrainte suivante</a:t>
            </a:r>
          </a:p>
        </p:txBody>
      </p:sp>
      <p:cxnSp>
        <p:nvCxnSpPr>
          <p:cNvPr id="180" name="Connecteur : en angle 179">
            <a:extLst>
              <a:ext uri="{FF2B5EF4-FFF2-40B4-BE49-F238E27FC236}">
                <a16:creationId xmlns:a16="http://schemas.microsoft.com/office/drawing/2014/main" id="{4390C4A0-7D61-451E-994B-EC43106BC357}"/>
              </a:ext>
            </a:extLst>
          </p:cNvPr>
          <p:cNvCxnSpPr>
            <a:cxnSpLocks/>
            <a:stCxn id="146" idx="1"/>
            <a:endCxn id="131" idx="1"/>
          </p:cNvCxnSpPr>
          <p:nvPr/>
        </p:nvCxnSpPr>
        <p:spPr>
          <a:xfrm rot="10800000" flipH="1" flipV="1">
            <a:off x="4404868" y="1622174"/>
            <a:ext cx="467575" cy="1623451"/>
          </a:xfrm>
          <a:prstGeom prst="bentConnector3">
            <a:avLst>
              <a:gd name="adj1" fmla="val -4889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9" name="ZoneTexte 188">
            <a:extLst>
              <a:ext uri="{FF2B5EF4-FFF2-40B4-BE49-F238E27FC236}">
                <a16:creationId xmlns:a16="http://schemas.microsoft.com/office/drawing/2014/main" id="{3657E640-3C23-4EF8-937E-C3F48E40931B}"/>
              </a:ext>
            </a:extLst>
          </p:cNvPr>
          <p:cNvSpPr txBox="1"/>
          <p:nvPr/>
        </p:nvSpPr>
        <p:spPr>
          <a:xfrm>
            <a:off x="4300187" y="3063713"/>
            <a:ext cx="4534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nom</a:t>
            </a:r>
          </a:p>
        </p:txBody>
      </p:sp>
      <p:sp>
        <p:nvSpPr>
          <p:cNvPr id="253" name="Organigramme : Décision 252">
            <a:extLst>
              <a:ext uri="{FF2B5EF4-FFF2-40B4-BE49-F238E27FC236}">
                <a16:creationId xmlns:a16="http://schemas.microsoft.com/office/drawing/2014/main" id="{1ACA13CE-E888-4690-A9DD-57B75769A518}"/>
              </a:ext>
            </a:extLst>
          </p:cNvPr>
          <p:cNvSpPr/>
          <p:nvPr/>
        </p:nvSpPr>
        <p:spPr>
          <a:xfrm>
            <a:off x="3083878" y="6104399"/>
            <a:ext cx="140970" cy="226942"/>
          </a:xfrm>
          <a:prstGeom prst="flowChartDecisi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54" name="Connecteur droit avec flèche 253">
            <a:extLst>
              <a:ext uri="{FF2B5EF4-FFF2-40B4-BE49-F238E27FC236}">
                <a16:creationId xmlns:a16="http://schemas.microsoft.com/office/drawing/2014/main" id="{68876200-CE15-41EE-8709-74CF555DD0ED}"/>
              </a:ext>
            </a:extLst>
          </p:cNvPr>
          <p:cNvCxnSpPr>
            <a:cxnSpLocks/>
            <a:stCxn id="253" idx="2"/>
          </p:cNvCxnSpPr>
          <p:nvPr/>
        </p:nvCxnSpPr>
        <p:spPr>
          <a:xfrm>
            <a:off x="3154363" y="6331341"/>
            <a:ext cx="1" cy="172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ZoneTexte 255">
            <a:extLst>
              <a:ext uri="{FF2B5EF4-FFF2-40B4-BE49-F238E27FC236}">
                <a16:creationId xmlns:a16="http://schemas.microsoft.com/office/drawing/2014/main" id="{02DABA85-BEA4-467A-BF9F-5EECDC625F43}"/>
              </a:ext>
            </a:extLst>
          </p:cNvPr>
          <p:cNvSpPr txBox="1"/>
          <p:nvPr/>
        </p:nvSpPr>
        <p:spPr>
          <a:xfrm>
            <a:off x="2474248" y="2375748"/>
            <a:ext cx="5408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contient</a:t>
            </a:r>
          </a:p>
        </p:txBody>
      </p:sp>
      <p:sp>
        <p:nvSpPr>
          <p:cNvPr id="257" name="ZoneTexte 256">
            <a:extLst>
              <a:ext uri="{FF2B5EF4-FFF2-40B4-BE49-F238E27FC236}">
                <a16:creationId xmlns:a16="http://schemas.microsoft.com/office/drawing/2014/main" id="{D79C808B-360A-4BED-B06B-62A8E53BE8E8}"/>
              </a:ext>
            </a:extLst>
          </p:cNvPr>
          <p:cNvSpPr txBox="1"/>
          <p:nvPr/>
        </p:nvSpPr>
        <p:spPr>
          <a:xfrm>
            <a:off x="2630086" y="4692292"/>
            <a:ext cx="6306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contient</a:t>
            </a:r>
          </a:p>
        </p:txBody>
      </p:sp>
      <p:sp>
        <p:nvSpPr>
          <p:cNvPr id="258" name="ZoneTexte 257">
            <a:extLst>
              <a:ext uri="{FF2B5EF4-FFF2-40B4-BE49-F238E27FC236}">
                <a16:creationId xmlns:a16="http://schemas.microsoft.com/office/drawing/2014/main" id="{EF39938B-B68A-4CCF-815F-98582A8603E8}"/>
              </a:ext>
            </a:extLst>
          </p:cNvPr>
          <p:cNvSpPr txBox="1"/>
          <p:nvPr/>
        </p:nvSpPr>
        <p:spPr>
          <a:xfrm>
            <a:off x="2563742" y="6199631"/>
            <a:ext cx="7905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contient</a:t>
            </a:r>
          </a:p>
        </p:txBody>
      </p:sp>
      <p:sp>
        <p:nvSpPr>
          <p:cNvPr id="260" name="ZoneTexte 259">
            <a:extLst>
              <a:ext uri="{FF2B5EF4-FFF2-40B4-BE49-F238E27FC236}">
                <a16:creationId xmlns:a16="http://schemas.microsoft.com/office/drawing/2014/main" id="{527136CF-D952-4F95-94F4-72EDF6D12B3D}"/>
              </a:ext>
            </a:extLst>
          </p:cNvPr>
          <p:cNvSpPr txBox="1"/>
          <p:nvPr/>
        </p:nvSpPr>
        <p:spPr>
          <a:xfrm>
            <a:off x="5766354" y="5718110"/>
            <a:ext cx="11701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est conditionnée par</a:t>
            </a:r>
          </a:p>
        </p:txBody>
      </p:sp>
      <p:sp>
        <p:nvSpPr>
          <p:cNvPr id="261" name="ZoneTexte 260">
            <a:extLst>
              <a:ext uri="{FF2B5EF4-FFF2-40B4-BE49-F238E27FC236}">
                <a16:creationId xmlns:a16="http://schemas.microsoft.com/office/drawing/2014/main" id="{ED5CD107-1D07-4DFA-A385-C5AACCDA4A92}"/>
              </a:ext>
            </a:extLst>
          </p:cNvPr>
          <p:cNvSpPr txBox="1"/>
          <p:nvPr/>
        </p:nvSpPr>
        <p:spPr>
          <a:xfrm>
            <a:off x="5687812" y="4000123"/>
            <a:ext cx="11701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entraine les contraintes</a:t>
            </a:r>
          </a:p>
        </p:txBody>
      </p:sp>
      <p:sp>
        <p:nvSpPr>
          <p:cNvPr id="85" name="Organigramme : Décision 84">
            <a:extLst>
              <a:ext uri="{FF2B5EF4-FFF2-40B4-BE49-F238E27FC236}">
                <a16:creationId xmlns:a16="http://schemas.microsoft.com/office/drawing/2014/main" id="{DDBA1DF8-D490-4C0A-AEA7-9302B05AAFC0}"/>
              </a:ext>
            </a:extLst>
          </p:cNvPr>
          <p:cNvSpPr/>
          <p:nvPr/>
        </p:nvSpPr>
        <p:spPr>
          <a:xfrm rot="16200000">
            <a:off x="3996366" y="3536927"/>
            <a:ext cx="140970" cy="226942"/>
          </a:xfrm>
          <a:prstGeom prst="flowChartDecisi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" name="Connecteur : en angle 3">
            <a:extLst>
              <a:ext uri="{FF2B5EF4-FFF2-40B4-BE49-F238E27FC236}">
                <a16:creationId xmlns:a16="http://schemas.microsoft.com/office/drawing/2014/main" id="{A65EE847-5440-4401-8BA9-94F445F7FD51}"/>
              </a:ext>
            </a:extLst>
          </p:cNvPr>
          <p:cNvCxnSpPr>
            <a:cxnSpLocks/>
            <a:stCxn id="85" idx="2"/>
          </p:cNvCxnSpPr>
          <p:nvPr/>
        </p:nvCxnSpPr>
        <p:spPr>
          <a:xfrm flipH="1">
            <a:off x="3935488" y="3650398"/>
            <a:ext cx="244834" cy="225588"/>
          </a:xfrm>
          <a:prstGeom prst="bentConnector3">
            <a:avLst>
              <a:gd name="adj1" fmla="val -7581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ZoneTexte 89">
            <a:extLst>
              <a:ext uri="{FF2B5EF4-FFF2-40B4-BE49-F238E27FC236}">
                <a16:creationId xmlns:a16="http://schemas.microsoft.com/office/drawing/2014/main" id="{AE9F164B-BFBD-45A6-AE68-F051B944F792}"/>
              </a:ext>
            </a:extLst>
          </p:cNvPr>
          <p:cNvSpPr txBox="1"/>
          <p:nvPr/>
        </p:nvSpPr>
        <p:spPr>
          <a:xfrm>
            <a:off x="3966963" y="3901844"/>
            <a:ext cx="10070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a des sous-titres</a:t>
            </a:r>
          </a:p>
        </p:txBody>
      </p:sp>
      <p:cxnSp>
        <p:nvCxnSpPr>
          <p:cNvPr id="103" name="Connecteur droit 102">
            <a:extLst>
              <a:ext uri="{FF2B5EF4-FFF2-40B4-BE49-F238E27FC236}">
                <a16:creationId xmlns:a16="http://schemas.microsoft.com/office/drawing/2014/main" id="{B86234B5-9C93-430B-BA07-282582A2F595}"/>
              </a:ext>
            </a:extLst>
          </p:cNvPr>
          <p:cNvCxnSpPr>
            <a:cxnSpLocks/>
          </p:cNvCxnSpPr>
          <p:nvPr/>
        </p:nvCxnSpPr>
        <p:spPr>
          <a:xfrm>
            <a:off x="2594558" y="7019071"/>
            <a:ext cx="1235463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E546AC68-8126-467A-BA56-0D7667B97E01}"/>
              </a:ext>
            </a:extLst>
          </p:cNvPr>
          <p:cNvSpPr txBox="1"/>
          <p:nvPr/>
        </p:nvSpPr>
        <p:spPr>
          <a:xfrm>
            <a:off x="2364589" y="5286934"/>
            <a:ext cx="1665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+</a:t>
            </a:r>
            <a:r>
              <a:rPr lang="fr-FR" sz="1200" dirty="0" err="1"/>
              <a:t>idContenu</a:t>
            </a:r>
            <a:r>
              <a:rPr lang="fr-FR" sz="1200" dirty="0"/>
              <a:t> : URI</a:t>
            </a:r>
          </a:p>
          <a:p>
            <a:r>
              <a:rPr lang="fr-FR" sz="1200" dirty="0"/>
              <a:t>+</a:t>
            </a:r>
            <a:r>
              <a:rPr lang="fr-FR" sz="1200" dirty="0" err="1"/>
              <a:t>idZone</a:t>
            </a:r>
            <a:r>
              <a:rPr lang="fr-FR" sz="1200" dirty="0"/>
              <a:t> : </a:t>
            </a:r>
            <a:r>
              <a:rPr lang="fr-FR" sz="1200" dirty="0" err="1"/>
              <a:t>array</a:t>
            </a:r>
            <a:endParaRPr lang="fr-FR" sz="1200" dirty="0"/>
          </a:p>
          <a:p>
            <a:r>
              <a:rPr lang="fr-FR" sz="1200" dirty="0"/>
              <a:t>+</a:t>
            </a:r>
            <a:r>
              <a:rPr lang="fr-FR" sz="1200" dirty="0" err="1"/>
              <a:t>idPrescription</a:t>
            </a:r>
            <a:r>
              <a:rPr lang="fr-FR" sz="1200" dirty="0"/>
              <a:t> : </a:t>
            </a:r>
            <a:r>
              <a:rPr lang="fr-FR" sz="1200" dirty="0" err="1"/>
              <a:t>array</a:t>
            </a:r>
            <a:endParaRPr lang="fr-FR" sz="1200" dirty="0"/>
          </a:p>
          <a:p>
            <a:r>
              <a:rPr lang="fr-FR" sz="1200" dirty="0"/>
              <a:t>+nom : </a:t>
            </a:r>
            <a:r>
              <a:rPr lang="fr-FR" sz="1200" dirty="0" err="1"/>
              <a:t>array</a:t>
            </a:r>
            <a:endParaRPr lang="fr-FR" sz="1200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E96306BF-A0D7-486C-B718-733C32D729F2}"/>
              </a:ext>
            </a:extLst>
          </p:cNvPr>
          <p:cNvSpPr txBox="1"/>
          <p:nvPr/>
        </p:nvSpPr>
        <p:spPr>
          <a:xfrm>
            <a:off x="2570687" y="7067025"/>
            <a:ext cx="12969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+tag : varchar</a:t>
            </a:r>
          </a:p>
          <a:p>
            <a:r>
              <a:rPr lang="fr-FR" sz="1200" dirty="0"/>
              <a:t>+</a:t>
            </a:r>
            <a:r>
              <a:rPr lang="fr-FR" sz="1200" dirty="0" err="1"/>
              <a:t>attrs</a:t>
            </a:r>
            <a:r>
              <a:rPr lang="fr-FR" sz="1200" dirty="0"/>
              <a:t> : </a:t>
            </a:r>
            <a:r>
              <a:rPr lang="fr-FR" sz="1200" dirty="0" err="1"/>
              <a:t>object</a:t>
            </a:r>
            <a:endParaRPr lang="fr-FR" sz="1200" dirty="0"/>
          </a:p>
          <a:p>
            <a:r>
              <a:rPr lang="fr-FR" sz="1200" dirty="0"/>
              <a:t>+</a:t>
            </a:r>
            <a:r>
              <a:rPr lang="fr-FR" sz="1200" dirty="0" err="1"/>
              <a:t>text</a:t>
            </a:r>
            <a:r>
              <a:rPr lang="fr-FR" sz="1200" dirty="0"/>
              <a:t> : varchar</a:t>
            </a:r>
          </a:p>
          <a:p>
            <a:r>
              <a:rPr lang="fr-FR" sz="1200"/>
              <a:t>+html : </a:t>
            </a:r>
            <a:r>
              <a:rPr lang="fr-FR" sz="1200" dirty="0" err="1"/>
              <a:t>array</a:t>
            </a:r>
            <a:endParaRPr lang="fr-FR" sz="1200" dirty="0"/>
          </a:p>
        </p:txBody>
      </p:sp>
      <p:sp>
        <p:nvSpPr>
          <p:cNvPr id="9" name="Organigramme : Décision 8">
            <a:extLst>
              <a:ext uri="{FF2B5EF4-FFF2-40B4-BE49-F238E27FC236}">
                <a16:creationId xmlns:a16="http://schemas.microsoft.com/office/drawing/2014/main" id="{DCBC127A-849F-2142-F784-BF7C56902824}"/>
              </a:ext>
            </a:extLst>
          </p:cNvPr>
          <p:cNvSpPr/>
          <p:nvPr/>
        </p:nvSpPr>
        <p:spPr>
          <a:xfrm rot="14300992">
            <a:off x="4055962" y="5597320"/>
            <a:ext cx="140970" cy="226942"/>
          </a:xfrm>
          <a:prstGeom prst="flowChartDecisi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70BDF7B7-4827-99D9-CEF7-6384DE755E75}"/>
              </a:ext>
            </a:extLst>
          </p:cNvPr>
          <p:cNvCxnSpPr>
            <a:cxnSpLocks/>
            <a:stCxn id="9" idx="2"/>
            <a:endCxn id="97" idx="1"/>
          </p:cNvCxnSpPr>
          <p:nvPr/>
        </p:nvCxnSpPr>
        <p:spPr>
          <a:xfrm flipV="1">
            <a:off x="4223041" y="5201932"/>
            <a:ext cx="751017" cy="4493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44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FA6417-D32F-4B83-AF3C-E98BF64A5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BA4F3B0-2651-42AA-81FB-295E859BE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3FF5E0-A226-44AB-8EB5-5745818E1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4B89D-A459-4A1C-9913-955E14DC7F2B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49B327-718D-433C-9A24-D77925BB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EAC2AF-C84C-4E75-9932-ABAD9C83F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9B09-A58D-4134-996C-79E187256F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8101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2DA8D1-2D10-4E43-969F-BDB48FEB8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2414F5-9051-4FFF-8BE1-BD1C54D78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72AEFA-C7A8-4983-B1A4-61F7B901D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4B89D-A459-4A1C-9913-955E14DC7F2B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C7B355-3BB5-4033-BA1A-6ED586310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ECCA63-2BBA-4BD8-B091-BB413A0A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9B09-A58D-4134-996C-79E187256F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535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EA200E-D61D-4429-A8D1-1CE673EB2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06997A-E924-4E05-8399-F0A567AA7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625AF5-D22E-497A-8B25-72AABD6A3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4B89D-A459-4A1C-9913-955E14DC7F2B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39D4D2-A900-4822-8FAE-9CB08ABD9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A0A64A-E6A5-4339-93AD-67AFDDA1C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9B09-A58D-4134-996C-79E187256F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9535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6CD2AD-6FCA-4B13-8830-37F0C171A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C46A77-E53B-451F-AD02-EE31C36AE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D8782D-BBE3-4681-BA2C-0617035E3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5ECD0F8-0B25-44BA-82BB-AF5832071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4B89D-A459-4A1C-9913-955E14DC7F2B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E0300FD-265E-4DDC-8483-6AB7ECC7F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821029-87D9-46DA-B280-86E42E6E0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9B09-A58D-4134-996C-79E187256F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421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EBC2C2-F5DD-43E8-BEC2-5561F4A2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62D3B6-5C39-486D-8DE3-B5AF1A23E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8C47895-6DD2-402C-8E69-163FC10BE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90AB76D-6DEC-4433-A1F3-6DE30CAAE5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2A7F9BA-ED03-4980-ADDA-234C92749D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D59D34D-308C-44FE-AB87-CA72BC828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4B89D-A459-4A1C-9913-955E14DC7F2B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F8513B0-BB94-441F-BC35-F8AD0F27E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EA7B337-0816-467C-A877-41702B08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9B09-A58D-4134-996C-79E187256F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4787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D9A27D-83B7-4096-867C-AA0318A2E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9E6A174-206D-4EFB-8D40-737FB5285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4B89D-A459-4A1C-9913-955E14DC7F2B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4876030-0990-4B1F-9582-FB9E53942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A0314F6-B87C-4AF7-B301-83B2221F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9B09-A58D-4134-996C-79E187256F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8350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668F9B6-3EE7-41E4-9AF4-07D884621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4B89D-A459-4A1C-9913-955E14DC7F2B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AE3F782-FAD2-4B1F-AF03-B555F7DA8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19D93E-97DD-4F6D-AA16-EB6100885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9B09-A58D-4134-996C-79E187256F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7086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74E9DD-5B83-4F9C-946E-E4E6CE7F4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0B2D78-3B66-4EF7-B274-CDC2E4A09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E8F05BF-046C-42F6-9CEF-1179FA0E4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C1F7D21-F467-4AB3-967B-B0C6DB10D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4B89D-A459-4A1C-9913-955E14DC7F2B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FE08A3-F957-4115-92BF-88F52067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8DD06D-1F7D-472C-A716-5DCD8CF5E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9B09-A58D-4134-996C-79E187256F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0830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87F598-1D7B-4F12-A8E1-AD15DF990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4634DDE-3306-49D5-AAC0-903C20353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1C4AFF8-06AA-4641-BB01-0B9AA2616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59708FC-2299-4806-9705-C93C52F31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4B89D-A459-4A1C-9913-955E14DC7F2B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AEE7C18-95AE-4EC4-BE6A-87DC8EF6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947A459-D7A1-44D4-B861-84A3629A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9B09-A58D-4134-996C-79E187256F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0258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5FBEC0-F12A-4074-AD49-90691796E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8C0F6E1-80AC-4A99-9278-97A0A604B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EFCDCA-4B58-4F5A-8D7A-6F796B748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4B89D-A459-4A1C-9913-955E14DC7F2B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3DD3D3-82DD-4107-924D-0559C530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F98F3B-EE01-45A7-A704-B504BC2F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9B09-A58D-4134-996C-79E187256F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274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1B8196D-0479-43F4-8391-43D7A4825C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CCCFC5E-0416-418A-8B2B-D117668D3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53CE55-BEA3-4901-AACE-AC3F6219B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4B89D-A459-4A1C-9913-955E14DC7F2B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FDA4E5-F2D7-43BD-BEBA-783B363C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DFA22B-BD9B-4EF7-90C9-E708C8FFC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9B09-A58D-4134-996C-79E187256F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3405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8947F37-1E52-4BB6-92E7-98E427E3E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3526E8-9317-450A-8DEA-7B4364310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F77554-46D3-4C8A-BEF9-77245B5167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4B89D-A459-4A1C-9913-955E14DC7F2B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902BC4-2136-4FA5-AE27-709280975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EB9B01-2AB5-4126-A1EF-E27AF61C0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59B09-A58D-4134-996C-79E187256F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023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94745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240</Words>
  <Application>Microsoft Office PowerPoint</Application>
  <PresentationFormat>Grand écran</PresentationFormat>
  <Paragraphs>74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Aurore Alarcon</dc:creator>
  <cp:lastModifiedBy>Aurore Alarcon</cp:lastModifiedBy>
  <cp:revision>13</cp:revision>
  <dcterms:created xsi:type="dcterms:W3CDTF">2026-02-04T14:36:37Z</dcterms:created>
  <dcterms:modified xsi:type="dcterms:W3CDTF">2026-10-22T12:39:15Z</dcterms:modified>
</cp:coreProperties>
</file>